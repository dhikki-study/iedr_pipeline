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623"/>
  </p:normalViewPr>
  <p:slideViewPr>
    <p:cSldViewPr snapToGrid="0">
      <p:cViewPr varScale="1">
        <p:scale>
          <a:sx n="113" d="100"/>
          <a:sy n="113" d="100"/>
        </p:scale>
        <p:origin x="61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A6D06-4710-3D67-5A1B-2682E81045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7160F8-B1EB-CCBF-4943-65EC5476A9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624596-6608-2188-6BC0-94E8BD93D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4B288-2D4F-0C46-8869-CDC7F77D21F1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62A80C-E259-7801-7318-DAC94AC9C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E851F-A5A9-5324-00A6-095B11C04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9A498-572E-604F-897D-E39864BF6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212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407F5-40E9-5742-A3A2-19EEF55DA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A68A8B-F6DA-1EA3-8D30-12FA416E58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87D6F5-649D-2BFF-E2D3-390B9EF5D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4B288-2D4F-0C46-8869-CDC7F77D21F1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F07270-0D36-7B8E-61AD-AB77C2317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45F376-76EE-0C14-5C5A-11FDED09B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9A498-572E-604F-897D-E39864BF6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873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D4B66-F52D-D9B4-36AE-384F49B0A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4BC8A1-724A-F54C-5915-FBB362FC46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8F8301-B2A5-8A0A-B32E-265E669D2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4B288-2D4F-0C46-8869-CDC7F77D21F1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F4A6EB-B12E-A9F3-32D1-190786026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4A5024-9BA5-8CE4-1089-FB27A2F6A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9A498-572E-604F-897D-E39864BF6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716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97F2D-1190-B884-3D30-10645FE17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D91569-7A63-F705-DAE2-FAF7F08976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187026-D17B-9B49-A508-3FCF319E70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C45138-59F4-2C6F-8B69-5B185CD37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4B288-2D4F-0C46-8869-CDC7F77D21F1}" type="datetimeFigureOut">
              <a:rPr lang="en-US" smtClean="0"/>
              <a:t>2/20/26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B61FD0-D1F8-2B1B-D71C-1D7CD88D2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6E2114-5623-7E7D-2CE2-262AD67A9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9A498-572E-604F-897D-E39864BF6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96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C50DA-CA08-4B10-8EDB-D453EC3B7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451926-3827-4346-5F32-9CC6CAF3C5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DC2F73-1FAE-5833-FB92-85C169C6D2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110636-7CB4-95AE-8D19-383803CE7A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2B3A68-6291-2991-0A80-F7EE947A78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49AF7C-EAF6-5C54-7DE9-A093C3DEB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4B288-2D4F-0C46-8869-CDC7F77D21F1}" type="datetimeFigureOut">
              <a:rPr lang="en-US" smtClean="0"/>
              <a:t>2/20/26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301C70-C388-E3B1-887D-B24B95083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34B8BF-A7C6-F6FD-2862-042A6876D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9A498-572E-604F-897D-E39864BF6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606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C9C7A-5C44-A8F8-20A0-25226D5D1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C43714-F2C9-390E-B795-07C036782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4B288-2D4F-0C46-8869-CDC7F77D21F1}" type="datetimeFigureOut">
              <a:rPr lang="en-US" smtClean="0"/>
              <a:t>2/20/26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6C45D7-FE25-66C5-68CB-FB8EEF561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28E9B9-683A-FE0C-8022-779904E39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9A498-572E-604F-897D-E39864BF6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010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FD0E78-6118-1AFA-FA6D-097256EBD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4B288-2D4F-0C46-8869-CDC7F77D21F1}" type="datetimeFigureOut">
              <a:rPr lang="en-US" smtClean="0"/>
              <a:t>2/20/26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0115AD-9405-78CF-DD8A-FF0CA7870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AA4C53-53D9-6176-A352-B261850EE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9A498-572E-604F-897D-E39864BF6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216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D4B57-C4D4-6558-5F00-976C7A391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BF30F8-1F6F-E430-FD56-F2FC6FA7AF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52526-4BE7-53A6-C27A-DDBB5E17DA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72F2E6-FAE2-904A-9A19-ABE5E1514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4B288-2D4F-0C46-8869-CDC7F77D21F1}" type="datetimeFigureOut">
              <a:rPr lang="en-US" smtClean="0"/>
              <a:t>2/20/26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63B696-1B03-B435-56B0-6A06829DF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A6E227-40E8-61A5-A655-C89754EE8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9A498-572E-604F-897D-E39864BF6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173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30632-9506-4254-5C66-3DCCC4E3A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890C98-BC40-1B8D-681F-54B05A84A0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5E9B36-11D2-4E70-922D-245F942FE7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501D56-93C1-A808-5746-CA6E5C499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4B288-2D4F-0C46-8869-CDC7F77D21F1}" type="datetimeFigureOut">
              <a:rPr lang="en-US" smtClean="0"/>
              <a:t>2/20/26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9222DA-D0F0-54E2-AD56-3543D5D5C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4EF5A6-E424-3592-A147-0F9A13AB5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9A498-572E-604F-897D-E39864BF6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022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E773F-139F-6A68-6F47-D130E4B58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8297F9-2424-A67E-3216-ADC4B19B8F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2D1AE-9007-C2F1-F89B-7A89B5632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4B288-2D4F-0C46-8869-CDC7F77D21F1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EDFA13-9F76-1F09-7B53-FB03F075B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846CF2-0223-4E2A-6BEF-B04B1C702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9A498-572E-604F-897D-E39864BF6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253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662916-F7B6-BB65-6DE7-C9BC935F0E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452CEE-6917-BEF1-1A4E-5C669531E4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5F26A1-2516-932A-D04B-306E349E3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4B288-2D4F-0C46-8869-CDC7F77D21F1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DFE438-8546-0AEC-D674-15EEAF8E2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D8DC88-7D01-2DFE-1232-F7B8BF934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9A498-572E-604F-897D-E39864BF6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540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1B3A04-BA9C-5533-119E-EDFA0ED88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CCA0D0-B437-2741-35F8-4A7C48D112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35C9DA-478C-D81F-F3B3-49E1839796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04B288-2D4F-0C46-8869-CDC7F77D21F1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E6419F-C10F-4E5B-2DF3-1E03763266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5782A9-80D3-9663-D479-9291E43BE1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69A498-572E-604F-897D-E39864BF6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8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C8B6E89-CB76-B661-75D1-3F8F6E5ABD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13467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DevOps Approach for IEDR Data Pipeline</a:t>
            </a:r>
            <a:r>
              <a:rPr lang="en-US" dirty="0"/>
              <a:t> Managing Code Across Dev, QA, Prod &amp; Main </a:t>
            </a:r>
          </a:p>
          <a:p>
            <a:endParaRPr lang="en-US" i="1" dirty="0"/>
          </a:p>
          <a:p>
            <a:r>
              <a:rPr lang="en-US" i="1" dirty="0"/>
              <a:t>Presenter: Dheeraj Kaushal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6290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1E910-20B8-CB39-959F-6C7EB84BE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F5D9F-AD77-ED75-8C26-DCD9E025B6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Project Overview</a:t>
            </a:r>
          </a:p>
          <a:p>
            <a:r>
              <a:rPr lang="en-US" dirty="0"/>
              <a:t>Repository Structure</a:t>
            </a:r>
          </a:p>
          <a:p>
            <a:r>
              <a:rPr lang="en-US" dirty="0"/>
              <a:t>Branch Strategy</a:t>
            </a:r>
          </a:p>
          <a:p>
            <a:r>
              <a:rPr lang="en-US" dirty="0"/>
              <a:t>SDLC Process</a:t>
            </a:r>
          </a:p>
          <a:p>
            <a:r>
              <a:rPr lang="en-US" dirty="0"/>
              <a:t>CI/CD Pipeline</a:t>
            </a:r>
          </a:p>
          <a:p>
            <a:r>
              <a:rPr lang="en-US" dirty="0"/>
              <a:t>What we did</a:t>
            </a:r>
          </a:p>
          <a:p>
            <a:r>
              <a:rPr lang="en-US" dirty="0"/>
              <a:t>Next Steps</a:t>
            </a:r>
          </a:p>
        </p:txBody>
      </p:sp>
    </p:spTree>
    <p:extLst>
      <p:ext uri="{BB962C8B-B14F-4D97-AF65-F5344CB8AC3E}">
        <p14:creationId xmlns:p14="http://schemas.microsoft.com/office/powerpoint/2010/main" val="11520916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F2082-C912-6744-3A03-F2C9A0177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E1F9E4-479B-CA6E-38EB-316B95FF5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IEDR Data Pipeline</a:t>
            </a:r>
            <a:r>
              <a:rPr lang="en-US" dirty="0"/>
              <a:t> is a medallion architecture built on Databricks</a:t>
            </a:r>
          </a:p>
          <a:p>
            <a:pPr lvl="1"/>
            <a:endParaRPr lang="en-US" sz="2000" dirty="0"/>
          </a:p>
          <a:p>
            <a:pPr lvl="1"/>
            <a:r>
              <a:rPr lang="en-US" sz="2000" dirty="0"/>
              <a:t>Bronze Layer — Raw CSV ingestion from landing zone</a:t>
            </a:r>
          </a:p>
          <a:p>
            <a:pPr lvl="1"/>
            <a:r>
              <a:rPr lang="en-US" sz="2000" dirty="0"/>
              <a:t>Silver Layer — Cleansed and transformed data</a:t>
            </a:r>
          </a:p>
          <a:p>
            <a:pPr lvl="1"/>
            <a:r>
              <a:rPr lang="en-US" sz="2000" dirty="0"/>
              <a:t>Gold Layer — Aggregated, business-ready tables</a:t>
            </a:r>
          </a:p>
          <a:p>
            <a:pPr lvl="1"/>
            <a:r>
              <a:rPr lang="en-US" sz="2000" dirty="0"/>
              <a:t>Platform — Databricks (Serverless), Unity Catalog, GitHub</a:t>
            </a:r>
          </a:p>
        </p:txBody>
      </p:sp>
    </p:spTree>
    <p:extLst>
      <p:ext uri="{BB962C8B-B14F-4D97-AF65-F5344CB8AC3E}">
        <p14:creationId xmlns:p14="http://schemas.microsoft.com/office/powerpoint/2010/main" val="2741457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5599E-3125-01DF-2A8F-A090ADCCB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Repository Structure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43FA0E6-5929-FB0C-5142-FB1B23163B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43100" y="1874044"/>
            <a:ext cx="8305800" cy="425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4354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4DEA0-2386-B31E-D24E-7B8153975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Branch Strategy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DBEEE5F-3E28-E3EC-6458-41A6D9A226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029598"/>
              </p:ext>
            </p:extLst>
          </p:nvPr>
        </p:nvGraphicFramePr>
        <p:xfrm>
          <a:off x="838200" y="1825625"/>
          <a:ext cx="10515597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141817942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587460427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7847964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Branch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Who works on 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9690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Active development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Developer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95961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Testing &amp;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QA / Developer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2727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Stable running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Controlled releases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3446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Verified, long-term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After prod sign-off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610473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A8CD133-C8C4-6AC9-77BA-EF20E759AD4D}"/>
              </a:ext>
            </a:extLst>
          </p:cNvPr>
          <p:cNvSpPr txBox="1"/>
          <p:nvPr/>
        </p:nvSpPr>
        <p:spPr>
          <a:xfrm>
            <a:off x="838200" y="4114800"/>
            <a:ext cx="52577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Flow:</a:t>
            </a:r>
          </a:p>
          <a:p>
            <a:endParaRPr lang="en-US" dirty="0"/>
          </a:p>
          <a:p>
            <a:r>
              <a:rPr lang="en-US" dirty="0"/>
              <a:t>dev  →  </a:t>
            </a:r>
            <a:r>
              <a:rPr lang="en-US" dirty="0" err="1"/>
              <a:t>qa</a:t>
            </a:r>
            <a:r>
              <a:rPr lang="en-US" dirty="0"/>
              <a:t>  →  prod  →  main</a:t>
            </a:r>
          </a:p>
        </p:txBody>
      </p:sp>
    </p:spTree>
    <p:extLst>
      <p:ext uri="{BB962C8B-B14F-4D97-AF65-F5344CB8AC3E}">
        <p14:creationId xmlns:p14="http://schemas.microsoft.com/office/powerpoint/2010/main" val="25525439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A0B8C-0A9F-17DA-8A70-1FEA0FF06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This Branch Model?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9BD6B-EF3F-A051-139F-95A15272EA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2000" dirty="0"/>
              <a:t>dev - Safe sandbox, no impact to live data</a:t>
            </a:r>
          </a:p>
          <a:p>
            <a:pPr lvl="1"/>
            <a:r>
              <a:rPr lang="en-US" altLang="en-US" sz="2000" dirty="0" err="1"/>
              <a:t>qa</a:t>
            </a:r>
            <a:r>
              <a:rPr lang="en-US" altLang="en-US" sz="2000" dirty="0"/>
              <a:t> - Mirrors prod environment, catches issues early </a:t>
            </a:r>
          </a:p>
          <a:p>
            <a:pPr lvl="1"/>
            <a:r>
              <a:rPr lang="en-US" altLang="en-US" sz="2000" dirty="0"/>
              <a:t>prod - Code runs here for months before being considered stable </a:t>
            </a:r>
          </a:p>
          <a:p>
            <a:pPr lvl="1"/>
            <a:r>
              <a:rPr lang="en-US" altLang="en-US" sz="2000" dirty="0"/>
              <a:t>main — Only receives code that has proven itself in prod over time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/>
              <a:t>Gives the team full control and visibility at every stage. Prevents untested code from reaching production data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4132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76E29-D3DE-145D-4EFD-E3739AB3E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SDLC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67B70-BA36-16A0-E8B9-C87DE8AFCC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Step 1 — Develop</a:t>
            </a:r>
            <a:endParaRPr lang="en-US" dirty="0"/>
          </a:p>
          <a:p>
            <a:pPr lvl="1"/>
            <a:r>
              <a:rPr lang="en-US" sz="2000" dirty="0"/>
              <a:t>Developer works locally or in Databricks on dev branch</a:t>
            </a:r>
          </a:p>
          <a:p>
            <a:pPr lvl="1"/>
            <a:r>
              <a:rPr lang="en-US" sz="2000" dirty="0"/>
              <a:t>Writes/updates notebooks and SQL scripts</a:t>
            </a:r>
          </a:p>
          <a:p>
            <a:pPr lvl="1"/>
            <a:r>
              <a:rPr lang="en-US" sz="2000" dirty="0"/>
              <a:t>Commits and pushes to remote dev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Step 2 — Test (QA)</a:t>
            </a:r>
            <a:endParaRPr lang="en-US" dirty="0"/>
          </a:p>
          <a:p>
            <a:pPr lvl="1"/>
            <a:r>
              <a:rPr lang="en-US" sz="2000" dirty="0"/>
              <a:t>Code automatically promoted to </a:t>
            </a:r>
            <a:r>
              <a:rPr lang="en-US" sz="2000" dirty="0" err="1"/>
              <a:t>qa</a:t>
            </a:r>
            <a:r>
              <a:rPr lang="en-US" sz="2000" dirty="0"/>
              <a:t> via CI/CD on push to dev or we can keep approver to keep an eye on code</a:t>
            </a:r>
          </a:p>
          <a:p>
            <a:pPr lvl="1"/>
            <a:r>
              <a:rPr lang="en-US" sz="2000" dirty="0"/>
              <a:t>QA validates data outputs, transformations, and table counts</a:t>
            </a:r>
          </a:p>
          <a:p>
            <a:pPr lvl="1"/>
            <a:r>
              <a:rPr lang="en-US" sz="2000" dirty="0"/>
              <a:t>Any issues → fix on dev, re-push, auto-promotes again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971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FE61D-3743-BA84-68CC-D8DF2CEEA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SDLC Process cont’d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692275-5698-5C83-EF57-626290217D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Step 3 — Production</a:t>
            </a:r>
            <a:endParaRPr lang="en-US" dirty="0"/>
          </a:p>
          <a:p>
            <a:pPr lvl="1"/>
            <a:r>
              <a:rPr lang="en-US" sz="2000" dirty="0"/>
              <a:t>On QA sign-off, push to </a:t>
            </a:r>
            <a:r>
              <a:rPr lang="en-US" sz="2000" dirty="0" err="1"/>
              <a:t>qa</a:t>
            </a:r>
            <a:r>
              <a:rPr lang="en-US" sz="2000" dirty="0"/>
              <a:t> triggers auto-deploy to prod</a:t>
            </a:r>
          </a:p>
          <a:p>
            <a:pPr lvl="1"/>
            <a:r>
              <a:rPr lang="en-US" sz="2000" dirty="0"/>
              <a:t>Code runs in prod for 2-3 months</a:t>
            </a:r>
          </a:p>
          <a:p>
            <a:pPr lvl="1"/>
            <a:r>
              <a:rPr lang="en-US" sz="2000" dirty="0"/>
              <a:t>Monitor data quality, pipeline runs, and volumes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Step 4 — Main</a:t>
            </a:r>
            <a:endParaRPr lang="en-US" dirty="0"/>
          </a:p>
          <a:p>
            <a:pPr lvl="1"/>
            <a:r>
              <a:rPr lang="en-US" sz="2000" dirty="0"/>
              <a:t>After stable prod run, merge from prod → main</a:t>
            </a:r>
          </a:p>
          <a:p>
            <a:pPr lvl="1"/>
            <a:r>
              <a:rPr lang="en-US" sz="2000" dirty="0"/>
              <a:t>main is the golden copy — always clean, always proven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97592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84486-E2C5-4CB4-8CB5-C9AEEFC86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CI/CD Pipeline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E559EA-F4FA-9C9C-83FB-AB76278F6A7B}"/>
              </a:ext>
            </a:extLst>
          </p:cNvPr>
          <p:cNvSpPr txBox="1"/>
          <p:nvPr/>
        </p:nvSpPr>
        <p:spPr>
          <a:xfrm>
            <a:off x="838200" y="6123543"/>
            <a:ext cx="10740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Current state:</a:t>
            </a:r>
            <a:r>
              <a:rPr lang="en-US" dirty="0"/>
              <a:t> Merges to </a:t>
            </a:r>
            <a:r>
              <a:rPr lang="en-US" dirty="0" err="1"/>
              <a:t>qa</a:t>
            </a:r>
            <a:r>
              <a:rPr lang="en-US" dirty="0"/>
              <a:t> and prod done manually </a:t>
            </a:r>
            <a:r>
              <a:rPr lang="en-US" b="1" dirty="0"/>
              <a:t>Target state:</a:t>
            </a:r>
            <a:r>
              <a:rPr lang="en-US" dirty="0"/>
              <a:t> Automated via GitHub Actions on push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14C0E83-2E61-D26A-8EF7-15F4A82953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4122" y="1520825"/>
            <a:ext cx="896375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6712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7CDD4-8DB1-7982-043F-699C5FBC2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 Did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FFD24-E370-4027-449A-7D844593C2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138261"/>
          </a:xfrm>
        </p:spPr>
        <p:txBody>
          <a:bodyPr/>
          <a:lstStyle/>
          <a:p>
            <a:pPr lvl="1"/>
            <a:r>
              <a:rPr lang="en-US" sz="2000" dirty="0"/>
              <a:t>Checked out dev branch locally</a:t>
            </a:r>
          </a:p>
          <a:p>
            <a:pPr lvl="1"/>
            <a:r>
              <a:rPr lang="en-US" altLang="en-US" sz="2000" dirty="0"/>
              <a:t>Built all notebooks (Bronze, Silver, Gold layers) </a:t>
            </a:r>
          </a:p>
          <a:p>
            <a:pPr lvl="1"/>
            <a:r>
              <a:rPr lang="en-US" altLang="en-US" sz="2000" dirty="0" err="1"/>
              <a:t>Organised</a:t>
            </a:r>
            <a:r>
              <a:rPr lang="en-US" altLang="en-US" sz="2000" dirty="0"/>
              <a:t> SQL DDL scripts per table </a:t>
            </a:r>
          </a:p>
          <a:p>
            <a:pPr lvl="1"/>
            <a:r>
              <a:rPr lang="en-US" altLang="en-US" sz="2000" dirty="0"/>
              <a:t>Updated README with full setup guide </a:t>
            </a:r>
          </a:p>
          <a:p>
            <a:pPr lvl="1"/>
            <a:r>
              <a:rPr lang="en-US" altLang="en-US" sz="2000" dirty="0"/>
              <a:t>Committed and pushed to remote dev </a:t>
            </a:r>
          </a:p>
          <a:p>
            <a:pPr lvl="1"/>
            <a:r>
              <a:rPr lang="en-US" altLang="en-US" sz="2000" dirty="0"/>
              <a:t>Manually merged dev → </a:t>
            </a:r>
            <a:r>
              <a:rPr lang="en-US" altLang="en-US" sz="2000" dirty="0" err="1"/>
              <a:t>qa</a:t>
            </a:r>
            <a:r>
              <a:rPr lang="en-US" altLang="en-US" sz="2000" dirty="0"/>
              <a:t> </a:t>
            </a:r>
          </a:p>
          <a:p>
            <a:pPr lvl="1"/>
            <a:r>
              <a:rPr lang="en-US" altLang="en-US" sz="2000" dirty="0"/>
              <a:t>Manually merged </a:t>
            </a:r>
            <a:r>
              <a:rPr lang="en-US" altLang="en-US" sz="2000" dirty="0" err="1"/>
              <a:t>qa</a:t>
            </a:r>
            <a:r>
              <a:rPr lang="en-US" altLang="en-US" sz="2000" dirty="0"/>
              <a:t> → main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F47EA5-A630-28F1-5DB9-A4EB9807D948}"/>
              </a:ext>
            </a:extLst>
          </p:cNvPr>
          <p:cNvSpPr txBox="1"/>
          <p:nvPr/>
        </p:nvSpPr>
        <p:spPr>
          <a:xfrm>
            <a:off x="838200" y="5181600"/>
            <a:ext cx="8551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In a full CI/CD setup</a:t>
            </a:r>
            <a:r>
              <a:rPr lang="en-US" dirty="0"/>
              <a:t>, merge steps could be automated the moment code is pushed.</a:t>
            </a:r>
          </a:p>
        </p:txBody>
      </p:sp>
    </p:spTree>
    <p:extLst>
      <p:ext uri="{BB962C8B-B14F-4D97-AF65-F5344CB8AC3E}">
        <p14:creationId xmlns:p14="http://schemas.microsoft.com/office/powerpoint/2010/main" val="17382117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E471B-7F6E-9076-0C17-008810D57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Databricks Integration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9B6C8-7A74-9504-A76E-05AEF8B8C5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sz="2000" dirty="0"/>
              <a:t>Code lives in GitHub, executed in Databricks</a:t>
            </a:r>
          </a:p>
          <a:p>
            <a:pPr lvl="1"/>
            <a:r>
              <a:rPr lang="en-US" sz="2000" dirty="0"/>
              <a:t>Notebooks imported under: Workspace → Users → your-email → </a:t>
            </a:r>
            <a:r>
              <a:rPr lang="en-US" sz="2000" dirty="0" err="1"/>
              <a:t>IEDR_Project</a:t>
            </a:r>
            <a:endParaRPr lang="en-US" sz="2000" dirty="0"/>
          </a:p>
          <a:p>
            <a:pPr lvl="1"/>
            <a:r>
              <a:rPr lang="en-US" sz="2000" dirty="0"/>
              <a:t>Source CSV files dropped to: /Volumes/workspace/default/</a:t>
            </a:r>
            <a:r>
              <a:rPr lang="en-US" sz="2000" dirty="0" err="1"/>
              <a:t>iedr_csv</a:t>
            </a:r>
            <a:r>
              <a:rPr lang="en-US" sz="2000" dirty="0"/>
              <a:t>/landing</a:t>
            </a:r>
          </a:p>
          <a:p>
            <a:pPr lvl="1"/>
            <a:r>
              <a:rPr lang="en-US" sz="2000" dirty="0"/>
              <a:t>Tables created in Unity Catalog under workspace catalog</a:t>
            </a:r>
          </a:p>
        </p:txBody>
      </p:sp>
    </p:spTree>
    <p:extLst>
      <p:ext uri="{BB962C8B-B14F-4D97-AF65-F5344CB8AC3E}">
        <p14:creationId xmlns:p14="http://schemas.microsoft.com/office/powerpoint/2010/main" val="20696476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6AD37-4074-4DE8-1D05-1E35E2511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CI/CD Would Look Like in Full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82CC8-1086-E637-D8A7-BCD07777BC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GitHub Actions Workflow (example)</a:t>
            </a:r>
          </a:p>
          <a:p>
            <a:pPr lvl="1"/>
            <a:r>
              <a:rPr lang="en-US" sz="2000" dirty="0"/>
              <a:t>On push to dev → run linting + auto-merge to </a:t>
            </a:r>
            <a:r>
              <a:rPr lang="en-US" sz="2000" dirty="0" err="1"/>
              <a:t>qa</a:t>
            </a:r>
            <a:endParaRPr lang="en-US" sz="2000" dirty="0"/>
          </a:p>
          <a:p>
            <a:pPr lvl="1"/>
            <a:r>
              <a:rPr lang="en-US" sz="2000" dirty="0"/>
              <a:t>On push to </a:t>
            </a:r>
            <a:r>
              <a:rPr lang="en-US" sz="2000" dirty="0" err="1"/>
              <a:t>qa</a:t>
            </a:r>
            <a:r>
              <a:rPr lang="en-US" sz="2000" dirty="0"/>
              <a:t> → run integration tests → auto-deploy to prod</a:t>
            </a:r>
          </a:p>
          <a:p>
            <a:pPr lvl="1"/>
            <a:r>
              <a:rPr lang="en-US" sz="2000" dirty="0"/>
              <a:t>On merge to main → tag release version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722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0CF7C-CE46-1AE8-65E0-65D3236AB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E1AC5-2917-A82C-14F8-76097AF5B5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sz="2000" dirty="0"/>
              <a:t>Set up GitHub Actions for automated CI/CD (dev → </a:t>
            </a:r>
            <a:r>
              <a:rPr lang="en-US" sz="2000" dirty="0" err="1"/>
              <a:t>qa</a:t>
            </a:r>
            <a:r>
              <a:rPr lang="en-US" sz="2000" dirty="0"/>
              <a:t> → prod)</a:t>
            </a:r>
          </a:p>
          <a:p>
            <a:pPr lvl="1"/>
            <a:r>
              <a:rPr lang="en-US" sz="2000" dirty="0"/>
              <a:t>Implement Unity Catalog permissions to control access to tables by role and environment — analysts read Gold only, engineers write to Bronze/Silver, admins control all layers</a:t>
            </a:r>
          </a:p>
          <a:p>
            <a:pPr lvl="1"/>
            <a:r>
              <a:rPr lang="en-US" sz="2000" dirty="0"/>
              <a:t>Add data quality checks in Silver layer notebooks</a:t>
            </a:r>
          </a:p>
          <a:p>
            <a:pPr lvl="1"/>
            <a:r>
              <a:rPr lang="en-US" sz="2000" dirty="0"/>
              <a:t>Schedule notebooks using Databricks Jobs &amp; Pipelines</a:t>
            </a:r>
          </a:p>
          <a:p>
            <a:pPr lvl="1"/>
            <a:r>
              <a:rPr lang="en-US" sz="2000" dirty="0"/>
              <a:t>Monitor pipeline runs via Databricks Run History</a:t>
            </a:r>
          </a:p>
          <a:p>
            <a:pPr lvl="1"/>
            <a:r>
              <a:rPr lang="en-US" sz="2000" dirty="0"/>
              <a:t>After 2-3 months of stable prod → merge to main</a:t>
            </a:r>
          </a:p>
        </p:txBody>
      </p:sp>
    </p:spTree>
    <p:extLst>
      <p:ext uri="{BB962C8B-B14F-4D97-AF65-F5344CB8AC3E}">
        <p14:creationId xmlns:p14="http://schemas.microsoft.com/office/powerpoint/2010/main" val="41030860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</TotalTime>
  <Words>596</Words>
  <Application>Microsoft Macintosh PowerPoint</Application>
  <PresentationFormat>Widescreen</PresentationFormat>
  <Paragraphs>93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PowerPoint Presentation</vt:lpstr>
      <vt:lpstr>Agenda</vt:lpstr>
      <vt:lpstr>Project Overview</vt:lpstr>
      <vt:lpstr>Repository Structure</vt:lpstr>
      <vt:lpstr>Branch Strategy</vt:lpstr>
      <vt:lpstr>Why This Branch Model?</vt:lpstr>
      <vt:lpstr>SDLC Process</vt:lpstr>
      <vt:lpstr>SDLC Process cont’d</vt:lpstr>
      <vt:lpstr>CI/CD Pipeline</vt:lpstr>
      <vt:lpstr>What We Did</vt:lpstr>
      <vt:lpstr>Databricks Integration</vt:lpstr>
      <vt:lpstr>What CI/CD Would Look Like in Full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Dheeraj Kaushal</dc:creator>
  <cp:lastModifiedBy>Dheeraj Kaushal</cp:lastModifiedBy>
  <cp:revision>1</cp:revision>
  <dcterms:created xsi:type="dcterms:W3CDTF">2026-02-20T15:58:16Z</dcterms:created>
  <dcterms:modified xsi:type="dcterms:W3CDTF">2026-02-20T17:16:28Z</dcterms:modified>
</cp:coreProperties>
</file>